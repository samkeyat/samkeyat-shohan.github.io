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56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1" d="100"/>
          <a:sy n="71" d="100"/>
        </p:scale>
        <p:origin x="-1134" y="-7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295400"/>
            <a:ext cx="7315200" cy="3429000"/>
          </a:xfrm>
        </p:spPr>
        <p:txBody>
          <a:bodyPr>
            <a:normAutofit/>
          </a:bodyPr>
          <a:lstStyle/>
          <a:p>
            <a:r>
              <a:rPr sz="3100" b="1">
                <a:cs typeface="Times New Roman" pitchFamily="18" charset="0"/>
              </a:rPr>
              <a:t>Mesoscale Convective System (MCS) Detection </a:t>
            </a:r>
            <a:r>
              <a:rPr lang="en-US" sz="3100" b="1" dirty="0" smtClean="0">
                <a:cs typeface="Times New Roman" pitchFamily="18" charset="0"/>
              </a:rPr>
              <a:t>and</a:t>
            </a:r>
            <a:r>
              <a:rPr sz="3100" b="1" smtClean="0">
                <a:cs typeface="Times New Roman" pitchFamily="18" charset="0"/>
              </a:rPr>
              <a:t> Tracking</a:t>
            </a:r>
            <a:r>
              <a:rPr lang="en-US" sz="3100" b="1" dirty="0" smtClean="0">
                <a:cs typeface="Times New Roman" pitchFamily="18" charset="0"/>
              </a:rPr>
              <a:t> Methodology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 smtClean="0">
                <a:cs typeface="Times New Roman" pitchFamily="18" charset="0"/>
              </a:rPr>
              <a:t>A</a:t>
            </a:r>
            <a:r>
              <a:rPr lang="en-US" sz="2200" b="1" dirty="0" smtClean="0">
                <a:cs typeface="Times New Roman" pitchFamily="18" charset="0"/>
              </a:rPr>
              <a:t> case study of Texas extreme weather events and subsequent flooding in late May, 2015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b="1" dirty="0" smtClean="0">
                <a:latin typeface="Times New Roman" pitchFamily="18" charset="0"/>
                <a:cs typeface="Times New Roman" pitchFamily="18" charset="0"/>
              </a:rPr>
            </a:br>
            <a:endParaRPr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8" name="Picture 4" descr="NSF NCA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6153778"/>
            <a:ext cx="2133600" cy="53926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49101" y="371475"/>
            <a:ext cx="62376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Summary of MCS Classification Methodology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5567" y="1471315"/>
          <a:ext cx="9001124" cy="420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0281"/>
                <a:gridCol w="2250281"/>
                <a:gridCol w="2250281"/>
                <a:gridCol w="225028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itchFamily="18" charset="0"/>
                          <a:cs typeface="Times New Roman" pitchFamily="18" charset="0"/>
                        </a:rPr>
                        <a:t>Requirement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itchFamily="18" charset="0"/>
                          <a:cs typeface="Times New Roman" pitchFamily="18" charset="0"/>
                        </a:rPr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itchFamily="18" charset="0"/>
                          <a:cs typeface="Times New Roman" pitchFamily="18" charset="0"/>
                        </a:rPr>
                        <a:t>Threshold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itchFamily="18" charset="0"/>
                          <a:cs typeface="Times New Roman" pitchFamily="18" charset="0"/>
                        </a:rPr>
                        <a:t>Physical Purpose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Cold cloud shield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itchFamily="18" charset="0"/>
                          <a:cs typeface="Times New Roman" pitchFamily="18" charset="0"/>
                        </a:rPr>
                        <a:t>Tb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Tb &lt; 241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itchFamily="18" charset="0"/>
                          <a:cs typeface="Times New Roman" pitchFamily="18" charset="0"/>
                        </a:rPr>
                        <a:t>Identifies anvil-scale cloud organization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itchFamily="18" charset="0"/>
                          <a:cs typeface="Times New Roman" pitchFamily="18" charset="0"/>
                        </a:rPr>
                        <a:t>Convective 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itchFamily="18" charset="0"/>
                          <a:cs typeface="Times New Roman" pitchFamily="18" charset="0"/>
                        </a:rPr>
                        <a:t>Minimum Tb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itchFamily="18" charset="0"/>
                          <a:cs typeface="Times New Roman" pitchFamily="18" charset="0"/>
                        </a:rPr>
                        <a:t>Tb_min ≤ 225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itchFamily="18" charset="0"/>
                          <a:cs typeface="Times New Roman" pitchFamily="18" charset="0"/>
                        </a:rPr>
                        <a:t>Confirms ongoing strong convection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itchFamily="18" charset="0"/>
                          <a:cs typeface="Times New Roman" pitchFamily="18" charset="0"/>
                        </a:rPr>
                        <a:t>Horizontal 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itchFamily="18" charset="0"/>
                          <a:cs typeface="Times New Roman" pitchFamily="18" charset="0"/>
                        </a:rPr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itchFamily="18" charset="0"/>
                          <a:cs typeface="Times New Roman" pitchFamily="18" charset="0"/>
                        </a:rPr>
                        <a:t>≥ 60,000 km²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itchFamily="18" charset="0"/>
                          <a:cs typeface="Times New Roman" pitchFamily="18" charset="0"/>
                        </a:rPr>
                        <a:t>Distinguishes mesoscale systems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itchFamily="18" charset="0"/>
                          <a:cs typeface="Times New Roman" pitchFamily="18" charset="0"/>
                        </a:rPr>
                        <a:t>Lifetime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itchFamily="18" charset="0"/>
                          <a:cs typeface="Times New Roman" pitchFamily="18" charset="0"/>
                        </a:rPr>
                        <a:t>≥ 6 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itchFamily="18" charset="0"/>
                          <a:cs typeface="Times New Roman" pitchFamily="18" charset="0"/>
                        </a:rPr>
                        <a:t>Ensures sustained organization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Track continuity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imes New Roman" pitchFamily="18" charset="0"/>
                          <a:cs typeface="Times New Roman" pitchFamily="18" charset="0"/>
                        </a:rPr>
                        <a:t>Centroid</a:t>
                      </a: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 distance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≤ 250 km/frame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Follows lifecycle evolution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0312" y="76200"/>
            <a:ext cx="4129088" cy="490468"/>
          </a:xfrm>
        </p:spPr>
        <p:txBody>
          <a:bodyPr>
            <a:normAutofit/>
          </a:bodyPr>
          <a:lstStyle/>
          <a:p>
            <a:r>
              <a:rPr sz="2400" b="1">
                <a:latin typeface="Times New Roman" pitchFamily="18" charset="0"/>
                <a:cs typeface="Times New Roman" pitchFamily="18" charset="0"/>
              </a:rPr>
              <a:t>MCS Intensity Index</a:t>
            </a:r>
          </a:p>
        </p:txBody>
      </p:sp>
      <p:sp>
        <p:nvSpPr>
          <p:cNvPr id="6" name="Right Brace 5"/>
          <p:cNvSpPr/>
          <p:nvPr/>
        </p:nvSpPr>
        <p:spPr>
          <a:xfrm rot="5400000">
            <a:off x="4306455" y="598920"/>
            <a:ext cx="286328" cy="2517487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7" name="Right Brace 6"/>
          <p:cNvSpPr/>
          <p:nvPr/>
        </p:nvSpPr>
        <p:spPr>
          <a:xfrm rot="5400000">
            <a:off x="6313558" y="1392168"/>
            <a:ext cx="286328" cy="911945"/>
          </a:xfrm>
          <a:prstGeom prst="rightBrace">
            <a:avLst/>
          </a:prstGeom>
          <a:ln>
            <a:solidFill>
              <a:srgbClr val="333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06777" y="1992868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coldness of core (C)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74648" y="1988256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mesoscale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size (S)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676400" y="5105400"/>
            <a:ext cx="6553200" cy="1525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Interpretation: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Larger systems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→ higher intensity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Colder cloud tops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→ stronger or more vigorous deep convection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This is not a rainfall measure; it is a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structural + convective vigor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indicator.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40620" y="838200"/>
            <a:ext cx="5286375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0" y="2143242"/>
            <a:ext cx="9143999" cy="29621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Where: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T_CCS          = 241 K (CCS threshold),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T_b,min⁡​        = minimum Tb within the object (K),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T_b,window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= ~50 K below the 241 K threshold (i.e., down near ~191 K) corresponds to very cold 			overshooting tops.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A                   = CCS area (km²) for the object at that hour,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A_0               = 40,000 km² (a soft-saturation scale function from 0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- 1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). It’s below the MCS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area threshold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(60,000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		km²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), so truly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mesoscale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anvils already yield high size scores while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still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leaving room for larger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		systems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to stand 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6200" y="5867400"/>
            <a:ext cx="9067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 Strong </a:t>
            </a:r>
            <a:r>
              <a:rPr lang="en-US" dirty="0" smtClean="0"/>
              <a:t>spatial overlap between MCS </a:t>
            </a:r>
            <a:r>
              <a:rPr lang="en-US" dirty="0" smtClean="0"/>
              <a:t>cumulative intensity and </a:t>
            </a:r>
            <a:r>
              <a:rPr lang="en-US" dirty="0" smtClean="0"/>
              <a:t>extreme </a:t>
            </a:r>
            <a:r>
              <a:rPr lang="en-US" dirty="0" smtClean="0"/>
              <a:t>precipitation (≥ 20 </a:t>
            </a:r>
            <a:r>
              <a:rPr lang="en-US" dirty="0" smtClean="0"/>
              <a:t>mm h⁻¹) confirms MCSs as the primary driver of extreme rainfall in this </a:t>
            </a:r>
            <a:r>
              <a:rPr lang="en-US" dirty="0" smtClean="0"/>
              <a:t>region.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</a:t>
            </a:r>
            <a:r>
              <a:rPr lang="en-US" dirty="0" smtClean="0"/>
              <a:t>Globally available datasets are applied, Tb: MERGIR and Precipitation: GPM IMERG</a:t>
            </a:r>
            <a:endParaRPr lang="en-US" dirty="0" smtClean="0"/>
          </a:p>
        </p:txBody>
      </p:sp>
      <p:pic>
        <p:nvPicPr>
          <p:cNvPr id="3073" name="Picture 1" descr="L:\USA Journey\DATABASE_PHD\ALL_SERDP_Analysis\My_MCS_Tracking\practice_MCS_Tracking\figs_overview\20mm\mult_density_times_meanIntensity_TRUE_MCS_objects_NORMALIZE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0"/>
            <a:ext cx="7746673" cy="5943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:\USA Journey\DATABASE_PHD\ALL_SERDP_Analysis\My_MCS_Tracking\practice_MCS_Tracking\figs_overview\30mm\scatter_density_vs_meanIntensity_TRUE_MCS_object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85800"/>
            <a:ext cx="4591766" cy="3657600"/>
          </a:xfrm>
          <a:prstGeom prst="rect">
            <a:avLst/>
          </a:prstGeom>
          <a:noFill/>
        </p:spPr>
      </p:pic>
      <p:sp>
        <p:nvSpPr>
          <p:cNvPr id="1028" name="Rectangle 4"/>
          <p:cNvSpPr>
            <a:spLocks noChangeArrowheads="1"/>
          </p:cNvSpPr>
          <p:nvPr/>
        </p:nvSpPr>
        <p:spPr bwMode="auto">
          <a:xfrm rot="10800000" flipV="1">
            <a:off x="457200" y="4547801"/>
            <a:ext cx="8610600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 MCS frequency sets background risk: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/>
            </a:r>
            <a:b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</a:b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Higher MCS track density corresponds to higher mean and cumulative intensity, defining corridors of frequent, strong organized convection.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lang="en-US" dirty="0" smtClean="0">
                <a:latin typeface="+mj-lt"/>
                <a:cs typeface="Arial" charset="0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MCS activity governs heavy, not extreme, rainfall: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/>
            </a:r>
            <a:b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</a:b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charset="0"/>
              </a:rPr>
              <a:t>Cumulative MCS intensity is strongly linked to heavy precipitation (≥ 20–30 mm h⁻¹) but shows a much weaker relationship with the most extreme rates (≥ 50 mm h⁻¹).</a:t>
            </a:r>
          </a:p>
        </p:txBody>
      </p:sp>
      <p:pic>
        <p:nvPicPr>
          <p:cNvPr id="7" name="Picture 2" descr="L:\USA Journey\DATABASE_PHD\ALL_SERDP_Analysis\My_MCS_Tracking\practice_MCS_Tracking\figs_overview\20mm\scatter_normCumulativeIntensity_vs_extremePrecipKD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701314"/>
            <a:ext cx="4572000" cy="364208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L:\USA Journey\DATABASE_PHD\ALL_SERDP_Analysis\SERDP\Revision_MCS_Tracking_Paper\paper_revision\Chris_recomended\images\MCS_Tracking_obs_ens_3x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800" y="0"/>
            <a:ext cx="5269273" cy="6858000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0" y="1681877"/>
            <a:ext cx="35052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Robust MCS tracking performance</a:t>
            </a:r>
            <a:r>
              <a:rPr lang="en-US" b="1" dirty="0" smtClean="0"/>
              <a:t>: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 tracking algorithm successfully captures MCS initiation, coherent propagation, and structural evolution across multiple hours, demonstrating its ability to follow long-lived, organized convective systems.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185</Words>
  <Application>Microsoft Office PowerPoint</Application>
  <PresentationFormat>On-screen Show (4:3)</PresentationFormat>
  <Paragraphs>46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Mesoscale Convective System (MCS) Detection and Tracking Methodology     A case study of Texas extreme weather events and subsequent flooding in late May, 2015 </vt:lpstr>
      <vt:lpstr>Slide 2</vt:lpstr>
      <vt:lpstr>MCS Intensity Index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Mesoscale Convective System (MCS) Detection and Tracking Methodology  </dc:title>
  <dc:creator>PC</dc:creator>
  <cp:lastModifiedBy>PC</cp:lastModifiedBy>
  <cp:revision>13</cp:revision>
  <dcterms:created xsi:type="dcterms:W3CDTF">2006-08-16T00:00:00Z</dcterms:created>
  <dcterms:modified xsi:type="dcterms:W3CDTF">2026-02-10T05:08:28Z</dcterms:modified>
</cp:coreProperties>
</file>